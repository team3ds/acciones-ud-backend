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818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203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Design Sprint como una forma de aprender antes de invertir en desarrollo.
La idea central de la charla: no se busca construir el producto final en cinco días, sino reducir incertidumbre con evidencia de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esta diapositiva como gancho.
El desarrollo tradicional puede retrasar el aprendizaje hasta después de invertir mucho.
El Design Sprint comprime ese aprendizaje a una semana enfocada.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base: metodología ágil e intensiva de cinco días.
Destaca que el sprint responde preguntas críticas mediante diseño, prototipado y validación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brevemente el origen.
No hace falta detenerse demasiado en la historia: el dato importante es que la metodología fue diseñada para acelerar decisiones y aprendizaje.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presenta el mapa general antes de entrar día por día.
La narrativa es: entender, generar opciones, converger, simular y aprender.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 1: MAP.
ALINEAR AL EQUIPO Y DEFINIR EL PROBLEMA QUE MERECE ATENCIÓN.
Mapear el recorrido del usuario y sus puntos de fricción.
Escuchar a expertos internos para detectar puntos ciegos.
Convertir problemas en preguntas “¿Cómo podríamos…?”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 2: SKETCH.
GENERAR SOLUCIONES CONCRETAS SIN SESGO DE GRUPO.
Inspirarse con Lightning Demos y ejemplos externos.
Trabajar en silencio para que todas las voces aparezcan.
Terminar con un Solution Sketch autoexplicativo.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 3: DECIDE.
CONVERGER EN UNA SOLUCIÓN QUE VALGA LA PENA PROBAR.
Galería silenciosa para comparar propuestas.
Mapa de calor para encontrar patrones y puntos fuertes.
Super-voto del decisor + storyboard como plano del prototipo.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 4: PROTO.
CREAR UNA “FACHADA” REALISTA PARA PROVOCAR REACCIONES REALES.
Una simulación interactiva, no el producto terminado.
La fidelidad justa: suficiente para probar, nunca para enamorarse del código.
Flujo completo listo para usar en entrevistas.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 5: TEST.
OBSERVAR A USUARIOS REALES Y EXTRAER PATRONES DE APRENDIZAJE.
Entrevistas 1 a 1 con usuarios reales.
El equipo observa, toma notas y evita defender la solución.
Al final se consolidan aciertos, dudas, frustraciones y descubrimientos.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material original contempla facilitador, decisor, diseño UX/UI, expertos técnicos, negocio/producto e investigación UX, con un máximo de 7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caso como si fuera una mini-historia.
No vendas el prototipo como producto terminado: su objetivo es producir aprendizaje.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frase de cierre conceptual.
Relaciona el paradigma con el flujo de cinco días: el aprendizaje aparece antes de la inversión fuerte.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Sprint como una herramienta de reducción de riesgo, no como una receta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la tabla para cerrar la comparación.
El punto no es que lo tradicional sea malo, sino que el Sprint permite validar hipótesis antes de comprometer una inversión grande.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deja preparada la transición hacia la infografía.
La infografía puede usar exactamente estos cinco verbos como columna vertebral.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volviendo a la idea principal: aprender antes de construir.
De aquí puedes pasar a preguntas o a la infografía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66476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6F7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construir.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85216" y="2926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 problema complejo a un prototipo validado con usuarios reales en 5 días.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5216" y="4059936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85216" y="40645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/ PRODUCT / INNOVACIÓN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0" y="2743200"/>
            <a:ext cx="749808" cy="749808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931152" y="29809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17536" y="3118104"/>
            <a:ext cx="73152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708392" y="3008376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909560" y="2743200"/>
            <a:ext cx="749808" cy="7498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891272" y="29809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77656" y="3118104"/>
            <a:ext cx="73152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668512" y="3008376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869680" y="2743200"/>
            <a:ext cx="749808" cy="74980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851392" y="29809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37776" y="3118104"/>
            <a:ext cx="73152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628632" y="3008376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9829800" y="2743200"/>
            <a:ext cx="749808" cy="74980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811512" y="29809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97896" y="3118104"/>
            <a:ext cx="73152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0588752" y="3008376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789920" y="2743200"/>
            <a:ext cx="749808" cy="749808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771632" y="29809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3767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días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6995160" y="4407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semana para convertir incertidumbre en aprendizaje.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costo real de equivocarse llega tarde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Sprint cambia el orden: primero evidencia, después inversión.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TRADICIONAL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29077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29077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suposiciones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438144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" y="35295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35295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internas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68680" y="41513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41513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creciente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4681728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68680" y="47731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LANZAMIENTO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47731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tarde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657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816352"/>
            <a:ext cx="42519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720840" y="2916936"/>
            <a:ext cx="237744" cy="237744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114032" y="2898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32520" y="2898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39712" y="3163824"/>
            <a:ext cx="0" cy="265176"/>
          </a:xfrm>
          <a:prstGeom prst="line">
            <a:avLst/>
          </a:prstGeom>
          <a:noFill/>
          <a:ln w="17780">
            <a:solidFill>
              <a:srgbClr val="B7BBC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37960" y="3438144"/>
            <a:ext cx="42519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720840" y="3538728"/>
            <a:ext cx="237744" cy="23774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114032" y="3520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35204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39712" y="3785616"/>
            <a:ext cx="0" cy="265176"/>
          </a:xfrm>
          <a:prstGeom prst="line">
            <a:avLst/>
          </a:prstGeom>
          <a:noFill/>
          <a:ln w="17780">
            <a:solidFill>
              <a:srgbClr val="B7BBC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537960" y="4059936"/>
            <a:ext cx="42519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720840" y="4160520"/>
            <a:ext cx="237744" cy="237744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114032" y="4142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32520" y="4142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39712" y="4407408"/>
            <a:ext cx="0" cy="265176"/>
          </a:xfrm>
          <a:prstGeom prst="line">
            <a:avLst/>
          </a:prstGeom>
          <a:noFill/>
          <a:ln w="17780">
            <a:solidFill>
              <a:srgbClr val="B7BBC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537960" y="4681728"/>
            <a:ext cx="42519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720840" y="4782312"/>
            <a:ext cx="237744" cy="237744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114032" y="4764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47640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65392" y="5431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no es “¿podemos construirlo?”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65392" y="5715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7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“¿vale la pena construirlo?”</a:t>
            </a:r>
            <a:endParaRPr lang="en-US" sz="1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QUÉ 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taller intensivo para responder una pregunta crítica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estructurado: entender → decidir → prototipar → probar.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días para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incertidumbre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evidencia.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4636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Colaborativo · enfocado · práctico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420624" cy="420624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199632" y="248716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12280" y="23500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6609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reto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328416"/>
            <a:ext cx="420624" cy="42062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99632" y="343814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33009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36118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soluciones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4279392"/>
            <a:ext cx="420624" cy="420624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199632" y="43891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45628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usuarios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2779776"/>
            <a:ext cx="978408" cy="0"/>
          </a:xfrm>
          <a:prstGeom prst="line">
            <a:avLst/>
          </a:prstGeom>
          <a:noFill/>
          <a:ln w="25400">
            <a:solidFill>
              <a:srgbClr val="8EF0D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994392" y="2670048"/>
            <a:ext cx="237744" cy="219456"/>
          </a:xfrm>
          <a:prstGeom prst="chevron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9098280" y="3730752"/>
            <a:ext cx="978408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9994392" y="3621024"/>
            <a:ext cx="237744" cy="219456"/>
          </a:xfrm>
          <a:prstGeom prst="chevron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098280" y="4681728"/>
            <a:ext cx="978408" cy="0"/>
          </a:xfrm>
          <a:prstGeom prst="line">
            <a:avLst/>
          </a:prstGeom>
          <a:noFill/>
          <a:ln w="25400">
            <a:solidFill>
              <a:srgbClr val="B9A7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9994392" y="4572000"/>
            <a:ext cx="237744" cy="219456"/>
          </a:xfrm>
          <a:prstGeom prst="chevron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8366760" y="5422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desarrollar el producto final.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ORIGEN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Nació para acelerar el aprendizaje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Jake Knapp y el equipo de Google Ventures sistematizaron el enfoque.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3375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770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VENTURES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182112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del método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712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Creado para ayudar a equipos y startups a tomar decisiones rápidas.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3375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0288" y="2770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7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0288" y="3182112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Sprint: el libro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712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metodología se documentó en “Sprint: How to Solve Big Problems and Test New Ideas in Just Five Days”.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3375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339328" y="2770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A8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9328" y="3182112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9328" y="3712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Thinking + Agile + investigación UX + psicología conductual.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532180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AE6DD"/>
          </a:solidFill>
          <a:ln w="12700">
            <a:solidFill>
              <a:srgbClr val="EAE6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58368" y="53263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75104" y="5230368"/>
            <a:ext cx="8915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del Sprint no está en la velocidad de producir software, sino en la velocidad de aprender.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contenido: presentación original / “Sprint” (Knapp, 2016).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LA SEMANA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completo cabe en una sola línea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día reduce un tipo diferente de incertidumbre.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713232" cy="713232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0080" y="29809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3703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" y="4087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90472" y="3099816"/>
            <a:ext cx="10972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05456" y="2990088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889504" y="2743200"/>
            <a:ext cx="713232" cy="7132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889504" y="29809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3703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4087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9896" y="3099816"/>
            <a:ext cx="10972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54880" y="2990088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138928" y="2743200"/>
            <a:ext cx="713232" cy="71323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138928" y="29809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3703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1184" y="4087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9816"/>
            <a:ext cx="10972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004304" y="2990088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388352" y="2743200"/>
            <a:ext cx="713232" cy="713232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88352" y="29809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703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0608" y="4087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38744" y="3099816"/>
            <a:ext cx="10972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9253728" y="2990088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9637776" y="2743200"/>
            <a:ext cx="713232" cy="713232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637776" y="29809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73184" y="37033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00032" y="4087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5074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63040" y="50109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“¿Dónde está el problema?”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5074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96528" y="5010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“¿Qué aprendimos?”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DÍA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1 — 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ALINEAR AL EQUIPO Y DEFINIR EL PROBLEMA QUE MERECE ATENCIÓN.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57276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OCURRE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2660904"/>
            <a:ext cx="128016" cy="12801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874520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el recorrido del usuario y sus puntos de fricción.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1056" y="3374136"/>
            <a:ext cx="128016" cy="12801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Escuchar a expertos internos para detectar puntos ciegos.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91056" y="4087368"/>
            <a:ext cx="128016" cy="12801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problemas en preguntas “¿Cómo podríamos…?”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2441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4325112"/>
            <a:ext cx="4069080" cy="0"/>
          </a:xfrm>
          <a:prstGeom prst="line">
            <a:avLst/>
          </a:prstGeom>
          <a:noFill/>
          <a:ln w="25400">
            <a:solidFill>
              <a:srgbClr val="8EF0D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949440" y="4325112"/>
            <a:ext cx="219456" cy="21945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863840" y="4096512"/>
            <a:ext cx="219456" cy="21945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659368" y="4434840"/>
            <a:ext cx="219456" cy="21945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592056" y="3675888"/>
            <a:ext cx="219456" cy="21945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0634472" y="3136392"/>
            <a:ext cx="219456" cy="21945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629400" y="46451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543800" y="44165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339328" y="47548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272016" y="399592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TROPIEZA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314432" y="34564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 rot="-180000">
            <a:off x="7132320" y="2907792"/>
            <a:ext cx="1298448" cy="658368"/>
          </a:xfrm>
          <a:prstGeom prst="roundRect">
            <a:avLst>
              <a:gd name="adj" fmla="val 833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242048" y="301752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42048" y="329184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podríamos…?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120000">
            <a:off x="8869680" y="4023360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979408" y="413308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79408" y="440740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Choques de horario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3152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1 · MAP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2491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283464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 · énfasis visual para exposición oral.</a:t>
            </a:r>
            <a:endParaRPr lang="en-US" sz="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DÍA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2 — SKETCH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SOLUCIONES CONCRETAS SIN SESGO DE GRUPO.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57276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OCURRE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2660904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874520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Inspirarse con Lightning Demos y ejemplos externos.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1056" y="3374136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Trabajar en silencio para que todas las voces aparezcan.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91056" y="4087368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Terminar con un Solution Sketch autoexplicativo.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2441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85432" y="2953512"/>
            <a:ext cx="1188720" cy="1691640"/>
          </a:xfrm>
          <a:prstGeom prst="roundRect">
            <a:avLst>
              <a:gd name="adj" fmla="val 9231"/>
            </a:avLst>
          </a:prstGeom>
          <a:solidFill>
            <a:srgbClr val="FDFCF8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031736" y="3236976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031736" y="3493008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031736" y="3749040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031736" y="4005072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040880" y="4297680"/>
            <a:ext cx="621792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159752" y="3035808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284464" y="2953512"/>
            <a:ext cx="1188720" cy="1691640"/>
          </a:xfrm>
          <a:prstGeom prst="roundRect">
            <a:avLst>
              <a:gd name="adj" fmla="val 9231"/>
            </a:avLst>
          </a:prstGeom>
          <a:solidFill>
            <a:srgbClr val="FDFCF8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430768" y="3236976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430768" y="3493008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430768" y="3749040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8430768" y="4005072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8439912" y="4297680"/>
            <a:ext cx="621792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8558784" y="3035808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9683496" y="2953512"/>
            <a:ext cx="1188720" cy="1691640"/>
          </a:xfrm>
          <a:prstGeom prst="roundRect">
            <a:avLst>
              <a:gd name="adj" fmla="val 9231"/>
            </a:avLst>
          </a:prstGeom>
          <a:solidFill>
            <a:srgbClr val="FDFCF8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9829800" y="3236976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9829800" y="3493008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829800" y="3749040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829800" y="4005072"/>
            <a:ext cx="676656" cy="0"/>
          </a:xfrm>
          <a:prstGeom prst="line">
            <a:avLst/>
          </a:prstGeom>
          <a:noFill/>
          <a:ln w="12700">
            <a:solidFill>
              <a:srgbClr val="CDD2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838944" y="4297680"/>
            <a:ext cx="621792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9957816" y="3035808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7726680" y="475488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FF1B8"/>
          </a:solidFill>
          <a:ln w="12700">
            <a:solidFill>
              <a:srgbClr val="FFF1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7726680" y="47594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ideas / 8 minutos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3152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2 · SKETCH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2491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83464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 · énfasis visual para exposición oral.</a:t>
            </a:r>
            <a:endParaRPr lang="en-US" sz="7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DÍA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3 — DECIDE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CONVERGER EN UNA SOLUCIÓN QUE VALGA LA PENA PROBAR.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7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57276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DECIDE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2660904"/>
            <a:ext cx="128016" cy="12801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874520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Galería silenciosa para comparar propuestas.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1056" y="3374136"/>
            <a:ext cx="128016" cy="12801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calor para encontrar patrones y puntos fuertes.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91056" y="4087368"/>
            <a:ext cx="128016" cy="12801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Super-voto del decisor + storyboard como plano del prototipo.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2441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301752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296912" y="3090672"/>
            <a:ext cx="91440" cy="91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138160" y="301752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485632" y="309067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326880" y="301752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674352" y="309067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949440" y="3465576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296912" y="353872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138160" y="3465576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485632" y="353872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326880" y="3465576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9674352" y="3538728"/>
            <a:ext cx="91440" cy="91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949440" y="39136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296912" y="398678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138160" y="39136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485632" y="3986784"/>
            <a:ext cx="91440" cy="91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9326880" y="39136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674352" y="398678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949440" y="4361688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7296912" y="4434840"/>
            <a:ext cx="91440" cy="91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8138160" y="4361688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8485632" y="443484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9326880" y="4361688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674352" y="443484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040880" y="48097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7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● 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040880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VOTOS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686800" y="4919472"/>
            <a:ext cx="1737360" cy="0"/>
          </a:xfrm>
          <a:prstGeom prst="line">
            <a:avLst/>
          </a:prstGeom>
          <a:noFill/>
          <a:ln w="25400">
            <a:solidFill>
              <a:srgbClr val="C7CA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 rot="-120000">
            <a:off x="9509760" y="4279392"/>
            <a:ext cx="1225296" cy="777240"/>
          </a:xfrm>
          <a:prstGeom prst="roundRect">
            <a:avLst>
              <a:gd name="adj" fmla="val 7059"/>
            </a:avLst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9619488" y="4389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19488" y="4663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10–15 viñetas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73152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3 · DECIDE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2491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283464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 · énfasis visual para exposición oral.</a:t>
            </a:r>
            <a:endParaRPr lang="en-US" sz="7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DÍA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4 — PROTO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“FACHADA” REALISTA PARA PROVOCAR REACCIONES REALES.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6EA8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57276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2660904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874520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simulación interactiva, no el producto terminado.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1056" y="3374136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fidelidad justa: suficiente para probar, nunca para enamorarse del código.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91056" y="4087368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completo listo para usar en entrevistas.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2441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2862072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040880" y="2862072"/>
            <a:ext cx="3840480" cy="292608"/>
          </a:xfrm>
          <a:prstGeom prst="rect">
            <a:avLst/>
          </a:prstGeom>
          <a:solidFill>
            <a:srgbClr val="E9ECF3"/>
          </a:solidFill>
          <a:ln w="12700">
            <a:solidFill>
              <a:srgbClr val="E9ECF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150608" y="2953512"/>
            <a:ext cx="91440" cy="91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287768" y="295351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424928" y="2953512"/>
            <a:ext cx="91440" cy="91440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242048" y="3364992"/>
            <a:ext cx="3438144" cy="1298448"/>
          </a:xfrm>
          <a:prstGeom prst="roundRect">
            <a:avLst>
              <a:gd name="adj" fmla="val 845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424928" y="3621024"/>
            <a:ext cx="1613002" cy="237744"/>
          </a:xfrm>
          <a:prstGeom prst="roundRect">
            <a:avLst>
              <a:gd name="adj" fmla="val 19231"/>
            </a:avLst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424928" y="4005072"/>
            <a:ext cx="2112264" cy="164592"/>
          </a:xfrm>
          <a:prstGeom prst="roundRect">
            <a:avLst>
              <a:gd name="adj" fmla="val 16667"/>
            </a:avLst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424928" y="4389120"/>
            <a:ext cx="2112264" cy="164592"/>
          </a:xfrm>
          <a:prstGeom prst="roundRect">
            <a:avLst>
              <a:gd name="adj" fmla="val 16667"/>
            </a:avLst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424928" y="4773168"/>
            <a:ext cx="2112264" cy="164592"/>
          </a:xfrm>
          <a:prstGeom prst="roundRect">
            <a:avLst>
              <a:gd name="adj" fmla="val 16667"/>
            </a:avLst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424928" y="5157216"/>
            <a:ext cx="2112264" cy="164592"/>
          </a:xfrm>
          <a:prstGeom prst="roundRect">
            <a:avLst>
              <a:gd name="adj" fmla="val 16667"/>
            </a:avLst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9614002" y="3593592"/>
            <a:ext cx="844906" cy="1046074"/>
          </a:xfrm>
          <a:prstGeom prst="roundRect">
            <a:avLst>
              <a:gd name="adj" fmla="val 12987"/>
            </a:avLst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690811" y="3822192"/>
            <a:ext cx="6912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4855464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772400" y="48600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IT → LEARN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3152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4 · PROTO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2491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83464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 · énfasis visual para exposición oral.</a:t>
            </a:r>
            <a:endParaRPr lang="en-US" sz="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DÍA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5 — TEST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A USUARIOS REALES Y EXTRAER PATRONES DE APRENDIZAJE.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B9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57276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OBSERVA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2660904"/>
            <a:ext cx="128016" cy="128016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874520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 1 a 1 con usuarios reales.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1056" y="3374136"/>
            <a:ext cx="128016" cy="128016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observa, toma notas y evita defender la solución.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91056" y="4087368"/>
            <a:ext cx="128016" cy="128016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 se consolidan aciertos, dudas, frustraciones y descubrimientos.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29400" y="2441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46585" y="3136392"/>
            <a:ext cx="276515" cy="276515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995160" y="3353653"/>
            <a:ext cx="592531" cy="493776"/>
          </a:xfrm>
          <a:prstGeom prst="arc">
            <a:avLst/>
          </a:prstGeom>
          <a:solidFill>
            <a:srgbClr val="8EF0D0">
              <a:alpha val="85000"/>
            </a:srgbClr>
          </a:solidFill>
          <a:ln w="254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015265" y="3227832"/>
            <a:ext cx="276515" cy="276515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863840" y="3445093"/>
            <a:ext cx="592531" cy="493776"/>
          </a:xfrm>
          <a:prstGeom prst="arc">
            <a:avLst/>
          </a:prstGeom>
          <a:solidFill>
            <a:srgbClr val="FFD166">
              <a:alpha val="85000"/>
            </a:srgbClr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883945" y="3136392"/>
            <a:ext cx="276515" cy="27651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732520" y="3353653"/>
            <a:ext cx="592531" cy="493776"/>
          </a:xfrm>
          <a:prstGeom prst="arc">
            <a:avLst/>
          </a:prstGeom>
          <a:solidFill>
            <a:srgbClr val="FF7A59">
              <a:alpha val="85000"/>
            </a:srgbClr>
          </a:solidFill>
          <a:ln w="254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752625" y="3227832"/>
            <a:ext cx="276515" cy="276515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601200" y="3445093"/>
            <a:ext cx="592531" cy="493776"/>
          </a:xfrm>
          <a:prstGeom prst="arc">
            <a:avLst/>
          </a:prstGeom>
          <a:solidFill>
            <a:srgbClr val="6EA8FE">
              <a:alpha val="85000"/>
            </a:srgbClr>
          </a:solidFill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949440" y="4233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01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949440" y="4489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entiendo qué pasa aquí.”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4828032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EEE9FB"/>
          </a:solidFill>
          <a:ln w="12700">
            <a:solidFill>
              <a:srgbClr val="EEE9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949440" y="483260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82128" y="4828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necesita más contexto.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 5 · 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24912" y="5715000"/>
            <a:ext cx="2011680" cy="512064"/>
          </a:xfrm>
          <a:prstGeom prst="roundRect">
            <a:avLst>
              <a:gd name="adj" fmla="val 21429"/>
            </a:avLst>
          </a:prstGeom>
          <a:solidFill>
            <a:srgbClr val="0B1020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2834640" y="5797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 · énfasis visual para exposición oral.</a:t>
            </a:r>
            <a:endParaRPr lang="en-US" sz="7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EQUIPO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Siete personas pueden ser suficientes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Sprint funciona mejor cuando cada rol aporta una perspectiva distinta.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2514600"/>
            <a:ext cx="310896" cy="31089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316736" y="24963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FACILITADOR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6736" y="28072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ritmo + reglas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56432" y="2331720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657600" y="2514600"/>
            <a:ext cx="310896" cy="31089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14800" y="24963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8072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2331720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55664" y="2514600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912864" y="24963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12864" y="28072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331720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9253728" y="2514600"/>
            <a:ext cx="310896" cy="31089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710928" y="24963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10928" y="28072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776472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59536" y="3959352"/>
            <a:ext cx="310896" cy="310896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16736" y="39410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16736" y="42519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3776472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3657600" y="3959352"/>
            <a:ext cx="310896" cy="310896"/>
          </a:xfrm>
          <a:prstGeom prst="ellipse">
            <a:avLst/>
          </a:prstGeom>
          <a:solidFill>
            <a:srgbClr val="77D99B"/>
          </a:solidFill>
          <a:ln w="12700">
            <a:solidFill>
              <a:srgbClr val="77D99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114800" y="39410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RESEARCH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42519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3776472"/>
            <a:ext cx="2359152" cy="1115568"/>
          </a:xfrm>
          <a:prstGeom prst="roundRect">
            <a:avLst>
              <a:gd name="adj" fmla="val 9836"/>
            </a:avLst>
          </a:prstGeom>
          <a:solidFill>
            <a:srgbClr val="141A2E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55664" y="3959352"/>
            <a:ext cx="310896" cy="310896"/>
          </a:xfrm>
          <a:prstGeom prst="ellipse">
            <a:avLst/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912864" y="39410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42519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56509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no es “tener más gente”. Es tener las preguntas correctas en la sala.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CASO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Sprint universitario, en 5 movimientos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mejorar la inscripción de materias.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2743200"/>
            <a:ext cx="566928" cy="566928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21792" y="294436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3547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" y="3968496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colapsa + choques de horario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35024" y="3026664"/>
            <a:ext cx="1234440" cy="0"/>
          </a:xfrm>
          <a:prstGeom prst="line">
            <a:avLst/>
          </a:prstGeom>
          <a:noFill/>
          <a:ln w="25400">
            <a:solidFill>
              <a:srgbClr val="B6BA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487168" y="2916936"/>
            <a:ext cx="237744" cy="219456"/>
          </a:xfrm>
          <a:prstGeom prst="chevron">
            <a:avLst/>
          </a:prstGeom>
          <a:solidFill>
            <a:srgbClr val="B6BAC4"/>
          </a:solidFill>
          <a:ln w="12700">
            <a:solidFill>
              <a:srgbClr val="B6BA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889504" y="2743200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889504" y="294436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43784" y="3547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78024" y="3968496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Generador de horarios recomendados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3026664"/>
            <a:ext cx="1234440" cy="0"/>
          </a:xfrm>
          <a:prstGeom prst="line">
            <a:avLst/>
          </a:prstGeom>
          <a:noFill/>
          <a:ln w="25400">
            <a:solidFill>
              <a:srgbClr val="B6BA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54880" y="2916936"/>
            <a:ext cx="237744" cy="219456"/>
          </a:xfrm>
          <a:prstGeom prst="chevron">
            <a:avLst/>
          </a:prstGeom>
          <a:solidFill>
            <a:srgbClr val="B6BAC4"/>
          </a:solidFill>
          <a:ln w="12700">
            <a:solidFill>
              <a:srgbClr val="B6BA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157216" y="2743200"/>
            <a:ext cx="566928" cy="56692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157216" y="294436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11496" y="3547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5736" y="3968496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Inscripción inteligente en 1 clic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0448" y="3026664"/>
            <a:ext cx="1234440" cy="0"/>
          </a:xfrm>
          <a:prstGeom prst="line">
            <a:avLst/>
          </a:prstGeom>
          <a:noFill/>
          <a:ln w="25400">
            <a:solidFill>
              <a:srgbClr val="B6BA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022592" y="2916936"/>
            <a:ext cx="237744" cy="219456"/>
          </a:xfrm>
          <a:prstGeom prst="chevron">
            <a:avLst/>
          </a:prstGeom>
          <a:solidFill>
            <a:srgbClr val="B6BAC4"/>
          </a:solidFill>
          <a:ln w="12700">
            <a:solidFill>
              <a:srgbClr val="B6BA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424928" y="2743200"/>
            <a:ext cx="566928" cy="56692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424928" y="294436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79208" y="3547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3448" y="3968496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móvil interactivo en Figma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8160" y="3026664"/>
            <a:ext cx="1234440" cy="0"/>
          </a:xfrm>
          <a:prstGeom prst="line">
            <a:avLst/>
          </a:prstGeom>
          <a:noFill/>
          <a:ln w="25400">
            <a:solidFill>
              <a:srgbClr val="B6BA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9290304" y="2916936"/>
            <a:ext cx="237744" cy="219456"/>
          </a:xfrm>
          <a:prstGeom prst="chevron">
            <a:avLst/>
          </a:prstGeom>
          <a:solidFill>
            <a:srgbClr val="B6BAC4"/>
          </a:solidFill>
          <a:ln w="12700">
            <a:solidFill>
              <a:srgbClr val="B6BA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9692640" y="2743200"/>
            <a:ext cx="566928" cy="566928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692640" y="294436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46920" y="3547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81160" y="3968496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estudiantes → patrones de uso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5166360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EEE9FB"/>
          </a:solidFill>
          <a:ln w="12700">
            <a:solidFill>
              <a:srgbClr val="EEE9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58368" y="51709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DEL EJEMPLO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51760" y="51206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prototipo permite aprender antes de construir el portal real.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práctico basado en la presentación original.</a:t>
            </a:r>
            <a:endParaRPr lang="en-US" sz="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PARADIGMA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optimiza el desarrollo. Optimiza el aprendizaje.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es la idea que conecta todas las etapas.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7D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907792"/>
            <a:ext cx="1737360" cy="493776"/>
          </a:xfrm>
          <a:prstGeom prst="roundRect">
            <a:avLst>
              <a:gd name="adj" fmla="val 22222"/>
            </a:avLst>
          </a:prstGeom>
          <a:solidFill>
            <a:srgbClr val="1B233D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04088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D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9736" y="3154680"/>
            <a:ext cx="1828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560320" y="304495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880360" y="2907792"/>
            <a:ext cx="1737360" cy="493776"/>
          </a:xfrm>
          <a:prstGeom prst="roundRect">
            <a:avLst>
              <a:gd name="adj" fmla="val 22222"/>
            </a:avLst>
          </a:prstGeom>
          <a:solidFill>
            <a:srgbClr val="1B233D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926080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D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3154680"/>
            <a:ext cx="1828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82312" y="304495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102352" y="2907792"/>
            <a:ext cx="1737360" cy="493776"/>
          </a:xfrm>
          <a:prstGeom prst="roundRect">
            <a:avLst>
              <a:gd name="adj" fmla="val 22222"/>
            </a:avLst>
          </a:prstGeom>
          <a:solidFill>
            <a:srgbClr val="1B233D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148072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D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3154680"/>
            <a:ext cx="1828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004304" y="304495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324344" y="2907792"/>
            <a:ext cx="1737360" cy="493776"/>
          </a:xfrm>
          <a:prstGeom prst="roundRect">
            <a:avLst>
              <a:gd name="adj" fmla="val 22222"/>
            </a:avLst>
          </a:prstGeom>
          <a:solidFill>
            <a:srgbClr val="1B233D"/>
          </a:solidFill>
          <a:ln w="12700">
            <a:solidFill>
              <a:srgbClr val="2832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70064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D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LANZAMIENTO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25712" y="3154680"/>
            <a:ext cx="182880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226296" y="304495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546336" y="2907792"/>
            <a:ext cx="1737360" cy="493776"/>
          </a:xfrm>
          <a:prstGeom prst="roundRect">
            <a:avLst>
              <a:gd name="adj" fmla="val 22222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592056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3867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04288" y="3803904"/>
            <a:ext cx="438912" cy="438912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871216" y="38404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4023360"/>
            <a:ext cx="64008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42232" y="391363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526280" y="3803904"/>
            <a:ext cx="438912" cy="438912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093208" y="38404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82512" y="4023360"/>
            <a:ext cx="64008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364224" y="391363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748272" y="3803904"/>
            <a:ext cx="438912" cy="438912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15200" y="38404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04504" y="4023360"/>
            <a:ext cx="64008" cy="0"/>
          </a:xfrm>
          <a:prstGeom prst="line">
            <a:avLst/>
          </a:prstGeom>
          <a:noFill/>
          <a:ln w="25400">
            <a:solidFill>
              <a:srgbClr val="5360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8586216" y="3913632"/>
            <a:ext cx="237744" cy="219456"/>
          </a:xfrm>
          <a:prstGeom prst="chevron">
            <a:avLst/>
          </a:prstGeom>
          <a:solidFill>
            <a:srgbClr val="53607A"/>
          </a:solidFill>
          <a:ln w="12700">
            <a:solidFill>
              <a:srgbClr val="5360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8970264" y="3803904"/>
            <a:ext cx="438912" cy="43891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9537192" y="38404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" y="5193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se trata de construir más rápido, sino de aprender más rápido.”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51560" y="571500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Jake Knapp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EVALUACIÓN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Potente, pero no mágico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aprender rápido; no reemplaza el desarrollo.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53035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14400" y="267004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DDF6ED"/>
          </a:solidFill>
          <a:ln w="12700">
            <a:solidFill>
              <a:srgbClr val="DDF6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14400" y="26746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146304" cy="146304"/>
          </a:xfrm>
          <a:prstGeom prst="ellipse">
            <a:avLst/>
          </a:prstGeom>
          <a:solidFill>
            <a:srgbClr val="77D99B"/>
          </a:solidFill>
          <a:ln w="12700">
            <a:solidFill>
              <a:srgbClr val="77D99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225296" y="316382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Velocidad: del reto a la prueba en 5 días.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858768"/>
            <a:ext cx="146304" cy="146304"/>
          </a:xfrm>
          <a:prstGeom prst="ellipse">
            <a:avLst/>
          </a:prstGeom>
          <a:solidFill>
            <a:srgbClr val="77D99B"/>
          </a:solidFill>
          <a:ln w="12700">
            <a:solidFill>
              <a:srgbClr val="77D99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25296" y="37764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Alineación: diseño, negocio y tecnología en la misma mesa.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471416"/>
            <a:ext cx="146304" cy="146304"/>
          </a:xfrm>
          <a:prstGeom prst="ellipse">
            <a:avLst/>
          </a:prstGeom>
          <a:solidFill>
            <a:srgbClr val="77D99B"/>
          </a:solidFill>
          <a:ln w="12700">
            <a:solidFill>
              <a:srgbClr val="77D99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225296" y="4389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Ahorro: evita desarrollar soluciones que nadie necesita.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2395728"/>
            <a:ext cx="53035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510528" y="2670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CE4DF"/>
          </a:solidFill>
          <a:ln w="12700">
            <a:solidFill>
              <a:srgbClr val="FCE4D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10528" y="26746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10528" y="3246120"/>
            <a:ext cx="146304" cy="14630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821424" y="316382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concentración casi total durante los cinco días.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10528" y="3858768"/>
            <a:ext cx="146304" cy="14630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21424" y="37764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sustituye la arquitectura ni el desarrollo posterior.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10528" y="4471416"/>
            <a:ext cx="146304" cy="14630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21424" y="4389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evidencia cualitativa, no éxito garantizado.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COMPARACIÓN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ritmos distintos de aprender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está en cuándo llega el feedback.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15768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TRADICIONAL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73368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651760"/>
            <a:ext cx="10634472" cy="0"/>
          </a:xfrm>
          <a:prstGeom prst="line">
            <a:avLst/>
          </a:prstGeom>
          <a:noFill/>
          <a:ln w="12700">
            <a:solidFill>
              <a:srgbClr val="2832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58368" y="2798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5768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e implementar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73368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y validar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383280"/>
            <a:ext cx="10634472" cy="0"/>
          </a:xfrm>
          <a:prstGeom prst="line">
            <a:avLst/>
          </a:prstGeom>
          <a:noFill/>
          <a:ln w="12700">
            <a:solidFill>
              <a:srgbClr val="2832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58368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15768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3368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días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4114800"/>
            <a:ext cx="10634472" cy="0"/>
          </a:xfrm>
          <a:prstGeom prst="line">
            <a:avLst/>
          </a:prstGeom>
          <a:noFill/>
          <a:ln w="12700">
            <a:solidFill>
              <a:srgbClr val="2832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58368" y="4261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inicial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15768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846320"/>
            <a:ext cx="10634472" cy="0"/>
          </a:xfrm>
          <a:prstGeom prst="line">
            <a:avLst/>
          </a:prstGeom>
          <a:noFill/>
          <a:ln w="12700">
            <a:solidFill>
              <a:srgbClr val="2832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58368" y="4992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15768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del lanzamiento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73368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la misma semana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576072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58368" y="57652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CLAVE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38528" y="5687568"/>
            <a:ext cx="8732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Sprint no reemplaza el desarrollo: decide mejor qué vale la pena desarrollar.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RESUMEN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metodología que cabe en una infografía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verbos. Una semana. Una pregunta central: ¿qué aprendimos?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2514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298448" y="2761488"/>
            <a:ext cx="548640" cy="548640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33272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9464" y="3255264"/>
            <a:ext cx="82296" cy="0"/>
          </a:xfrm>
          <a:prstGeom prst="line">
            <a:avLst/>
          </a:prstGeom>
          <a:noFill/>
          <a:ln w="25400">
            <a:solidFill>
              <a:srgbClr val="A9AF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9464" y="3145536"/>
            <a:ext cx="237744" cy="219456"/>
          </a:xfrm>
          <a:prstGeom prst="chevron">
            <a:avLst/>
          </a:prstGeom>
          <a:solidFill>
            <a:srgbClr val="A9AFBA"/>
          </a:solidFill>
          <a:ln w="12700">
            <a:solidFill>
              <a:srgbClr val="A9AFB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889504" y="2514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566160" y="2761488"/>
            <a:ext cx="54864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300984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36392" y="3767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37176" y="3255264"/>
            <a:ext cx="82296" cy="0"/>
          </a:xfrm>
          <a:prstGeom prst="line">
            <a:avLst/>
          </a:prstGeom>
          <a:noFill/>
          <a:ln w="25400">
            <a:solidFill>
              <a:srgbClr val="A9AF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37176" y="3145536"/>
            <a:ext cx="237744" cy="219456"/>
          </a:xfrm>
          <a:prstGeom prst="chevron">
            <a:avLst/>
          </a:prstGeom>
          <a:solidFill>
            <a:srgbClr val="A9AFBA"/>
          </a:solidFill>
          <a:ln w="12700">
            <a:solidFill>
              <a:srgbClr val="A9AFB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157216" y="2514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833872" y="2761488"/>
            <a:ext cx="548640" cy="5486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568696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04104" y="3767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04888" y="3255264"/>
            <a:ext cx="82296" cy="0"/>
          </a:xfrm>
          <a:prstGeom prst="line">
            <a:avLst/>
          </a:prstGeom>
          <a:noFill/>
          <a:ln w="25400">
            <a:solidFill>
              <a:srgbClr val="A9AF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104888" y="3145536"/>
            <a:ext cx="237744" cy="219456"/>
          </a:xfrm>
          <a:prstGeom prst="chevron">
            <a:avLst/>
          </a:prstGeom>
          <a:solidFill>
            <a:srgbClr val="A9AFBA"/>
          </a:solidFill>
          <a:ln w="12700">
            <a:solidFill>
              <a:srgbClr val="A9AFB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424928" y="2514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101584" y="2761488"/>
            <a:ext cx="548640" cy="54864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836408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71816" y="3767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372600" y="3255264"/>
            <a:ext cx="82296" cy="0"/>
          </a:xfrm>
          <a:prstGeom prst="line">
            <a:avLst/>
          </a:prstGeom>
          <a:noFill/>
          <a:ln w="25400">
            <a:solidFill>
              <a:srgbClr val="A9AF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9372600" y="3145536"/>
            <a:ext cx="237744" cy="219456"/>
          </a:xfrm>
          <a:prstGeom prst="chevron">
            <a:avLst/>
          </a:prstGeom>
          <a:solidFill>
            <a:srgbClr val="A9AFBA"/>
          </a:solidFill>
          <a:ln w="12700">
            <a:solidFill>
              <a:srgbClr val="A9AFB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9692640" y="2514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10369296" y="2761488"/>
            <a:ext cx="548640" cy="548640"/>
          </a:xfrm>
          <a:prstGeom prst="ellipse">
            <a:avLst/>
          </a:prstGeom>
          <a:solidFill>
            <a:srgbClr val="B9A7FF"/>
          </a:solidFill>
          <a:ln w="12700">
            <a:solidFill>
              <a:srgbClr val="B9A7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010412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39528" y="3767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" y="4754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CENTRAL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necesitamos aprender antes de construir?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58368" y="56418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estructura queda lista para convertirse en una infografía de una sola página.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76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construir,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algo que aprender.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296265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AA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incertidumbre → a una decisión con evidencia.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900000">
            <a:off x="7680960" y="1874520"/>
            <a:ext cx="3108960" cy="3108960"/>
          </a:xfrm>
          <a:prstGeom prst="arc">
            <a:avLst/>
          </a:prstGeom>
          <a:solidFill>
            <a:srgbClr val="0B1020">
              <a:alpha val="0"/>
            </a:srgbClr>
          </a:solidFill>
          <a:ln w="508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 rot="11700000">
            <a:off x="7882128" y="2075688"/>
            <a:ext cx="2706624" cy="2706624"/>
          </a:xfrm>
          <a:prstGeom prst="arc">
            <a:avLst/>
          </a:prstGeom>
          <a:solidFill>
            <a:srgbClr val="0B1020">
              <a:alpha val="0"/>
            </a:srgbClr>
          </a:solidFill>
          <a:ln w="508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759952" y="2953512"/>
            <a:ext cx="950976" cy="950976"/>
          </a:xfrm>
          <a:prstGeom prst="ellipse">
            <a:avLst/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851392" y="335584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4937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94944" y="5596128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1B233D"/>
          </a:solidFill>
          <a:ln w="12700">
            <a:solidFill>
              <a:srgbClr val="1B23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94944" y="560070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F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F7B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conceptual y visual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fue reconstruida a partir del material original proporcionado.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219456" cy="219456"/>
          </a:xfrm>
          <a:prstGeom prst="ellipse">
            <a:avLst/>
          </a:prstGeom>
          <a:solidFill>
            <a:srgbClr val="8EF0D0"/>
          </a:solidFill>
          <a:ln w="12700">
            <a:solidFill>
              <a:srgbClr val="8EF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97280" y="2414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Knapp, Jake et 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24140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Sprint: How to Solve Big Problems and Test New Ideas in Just Five Days.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96528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907792"/>
            <a:ext cx="100126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85800" y="3456432"/>
            <a:ext cx="219456" cy="21945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97280" y="34015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proporcionado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4015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original “Design Sprint Presentation.pptx”.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3401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contenido y estructura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895344"/>
            <a:ext cx="100126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85800" y="4443984"/>
            <a:ext cx="219456" cy="21945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visuales originales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4389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uxdesign.cc · lucid.co · uxforthemasses.com · uxmatters.com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4389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 listadas en el archivo original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4882896"/>
            <a:ext cx="100126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62362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8A8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no se añadieron imágenes externas; los elementos visuales principales fueron recreados como gráficos vectoriales para mantener coherencia y editabilidad.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D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1815</Words>
  <Application>Microsoft Office PowerPoint</Application>
  <PresentationFormat>Panorámica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Sprint — 5 días para aprender antes de construir</dc:title>
  <dc:subject>Design Sprint</dc:subject>
  <dc:creator>OpenAI</dc:creator>
  <cp:lastModifiedBy>Juan Carlos Quintero Rubiano</cp:lastModifiedBy>
  <cp:revision>2</cp:revision>
  <dcterms:created xsi:type="dcterms:W3CDTF">2026-08-24T02:03:35Z</dcterms:created>
  <dcterms:modified xsi:type="dcterms:W3CDTF">2026-08-24T02:12:06Z</dcterms:modified>
</cp:coreProperties>
</file>